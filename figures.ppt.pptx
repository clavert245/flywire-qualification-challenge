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5" d="100"/>
          <a:sy n="115" d="100"/>
        </p:scale>
        <p:origin x="39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389784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06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00C4BC"/>
          </a:solidFill>
          <a:ln w="12700">
            <a:solidFill>
              <a:srgbClr val="00C4B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F0F0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Conserved 18-Neuron Circuit Across Three Male Drosophila Connectomes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503920" y="155448"/>
            <a:ext cx="1051560" cy="329184"/>
          </a:xfrm>
          <a:prstGeom prst="roundRect">
            <a:avLst>
              <a:gd name="adj" fmla="val 16667"/>
            </a:avLst>
          </a:prstGeom>
          <a:solidFill>
            <a:srgbClr val="00C4BC"/>
          </a:solidFill>
          <a:ln w="12700">
            <a:solidFill>
              <a:srgbClr val="00C4B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0" y="155448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MAOL v1.1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9665208" y="155448"/>
            <a:ext cx="1051560" cy="329184"/>
          </a:xfrm>
          <a:prstGeom prst="roundRect">
            <a:avLst>
              <a:gd name="adj" fmla="val 16667"/>
            </a:avLst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65208" y="155448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MANC v1.2.1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10826496" y="155448"/>
            <a:ext cx="1051560" cy="329184"/>
          </a:xfrm>
          <a:prstGeom prst="roundRect">
            <a:avLst>
              <a:gd name="adj" fmla="val 16667"/>
            </a:avLst>
          </a:prstGeom>
          <a:solidFill>
            <a:srgbClr val="9B59FF"/>
          </a:solidFill>
          <a:ln w="12700">
            <a:solidFill>
              <a:srgbClr val="9B59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826496" y="155448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MCNS v0.9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128016" y="777240"/>
            <a:ext cx="3840480" cy="5532120"/>
          </a:xfrm>
          <a:prstGeom prst="roundRect">
            <a:avLst>
              <a:gd name="adj" fmla="val 2381"/>
            </a:avLst>
          </a:prstGeom>
          <a:solidFill>
            <a:srgbClr val="0F0F2A"/>
          </a:solidFill>
          <a:ln w="12700">
            <a:solidFill>
              <a:srgbClr val="1A2A3A"/>
            </a:solidFill>
            <a:prstDash val="solid"/>
          </a:ln>
          <a:effectLst>
            <a:outerShdw blurRad="152400" dist="50800" dir="27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37744" y="832104"/>
            <a:ext cx="3621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b="1" kern="0" spc="200" dirty="0">
                <a:solidFill>
                  <a:srgbClr val="00C4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CIRCUIT TOPOLOGY  ·  MAOL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237744" y="1051560"/>
            <a:ext cx="3621024" cy="16459"/>
          </a:xfrm>
          <a:prstGeom prst="rect">
            <a:avLst/>
          </a:prstGeom>
          <a:solidFill>
            <a:srgbClr val="00C4BC"/>
          </a:solidFill>
          <a:ln w="12700">
            <a:solidFill>
              <a:srgbClr val="00C4BC"/>
            </a:solidFill>
            <a:prstDash val="solid"/>
          </a:ln>
        </p:spPr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" y="1088136"/>
            <a:ext cx="3749040" cy="4809744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64592" y="591616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i="1" dirty="0">
                <a:solidFill>
                  <a:srgbClr val="888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Nodes coloured by functional role  ·  Arrows = directed synapses  ·  Loop = auto-excitation</a:t>
            </a:r>
            <a:endParaRPr lang="en-US" sz="650" dirty="0"/>
          </a:p>
        </p:txBody>
      </p:sp>
      <p:sp>
        <p:nvSpPr>
          <p:cNvPr id="16" name="Shape 13"/>
          <p:cNvSpPr/>
          <p:nvPr/>
        </p:nvSpPr>
        <p:spPr>
          <a:xfrm>
            <a:off x="4096512" y="777240"/>
            <a:ext cx="4297680" cy="2697480"/>
          </a:xfrm>
          <a:prstGeom prst="roundRect">
            <a:avLst>
              <a:gd name="adj" fmla="val 3390"/>
            </a:avLst>
          </a:prstGeom>
          <a:solidFill>
            <a:srgbClr val="0F0F2A"/>
          </a:solidFill>
          <a:ln w="12700">
            <a:solidFill>
              <a:srgbClr val="1A2A3A"/>
            </a:solidFill>
            <a:prstDash val="solid"/>
          </a:ln>
          <a:effectLst>
            <a:outerShdw blurRad="152400" dist="50800" dir="27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4206240" y="832104"/>
            <a:ext cx="40782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b="1" kern="0" spc="200" dirty="0">
                <a:solidFill>
                  <a:srgbClr val="FF6B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CODEX 3D MESH  ·  All 18 Circuit Neurons  ·  MAOL v1.1</a:t>
            </a:r>
            <a:endParaRPr lang="en-US" sz="750" dirty="0"/>
          </a:p>
        </p:txBody>
      </p:sp>
      <p:sp>
        <p:nvSpPr>
          <p:cNvPr id="18" name="Shape 15"/>
          <p:cNvSpPr/>
          <p:nvPr/>
        </p:nvSpPr>
        <p:spPr>
          <a:xfrm>
            <a:off x="4206240" y="1051560"/>
            <a:ext cx="4078224" cy="16459"/>
          </a:xfrm>
          <a:prstGeom prst="rect">
            <a:avLst/>
          </a:prstGeom>
          <a:solidFill>
            <a:srgbClr val="FF6B9D"/>
          </a:solidFill>
          <a:ln w="12700">
            <a:solidFill>
              <a:srgbClr val="FF6B9D"/>
            </a:solidFill>
            <a:prstDash val="solid"/>
          </a:ln>
        </p:spPr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33088" y="1088136"/>
            <a:ext cx="4206240" cy="2212848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4133088" y="3300984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i="1" dirty="0">
                <a:solidFill>
                  <a:srgbClr val="888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colour = one neuron  ·  Optic lobe upper-left  ·  Projections extend toward central brain</a:t>
            </a:r>
            <a:endParaRPr lang="en-US" sz="650" dirty="0"/>
          </a:p>
        </p:txBody>
      </p:sp>
      <p:sp>
        <p:nvSpPr>
          <p:cNvPr id="21" name="Shape 17"/>
          <p:cNvSpPr/>
          <p:nvPr/>
        </p:nvSpPr>
        <p:spPr>
          <a:xfrm>
            <a:off x="4096512" y="3593592"/>
            <a:ext cx="4297680" cy="2715768"/>
          </a:xfrm>
          <a:prstGeom prst="roundRect">
            <a:avLst>
              <a:gd name="adj" fmla="val 3367"/>
            </a:avLst>
          </a:prstGeom>
          <a:solidFill>
            <a:srgbClr val="0F0F2A"/>
          </a:solidFill>
          <a:ln w="12700">
            <a:solidFill>
              <a:srgbClr val="1A2A3A"/>
            </a:solidFill>
            <a:prstDash val="solid"/>
          </a:ln>
          <a:effectLst>
            <a:outerShdw blurRad="152400" dist="50800" dir="27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2" name="Text 18"/>
          <p:cNvSpPr/>
          <p:nvPr/>
        </p:nvSpPr>
        <p:spPr>
          <a:xfrm>
            <a:off x="4206240" y="3648456"/>
            <a:ext cx="40782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b="1" kern="0" spc="200" dirty="0">
                <a:solidFill>
                  <a:srgbClr val="FF6B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CODEX 3D MESH  ·  Hub Neuron 29890  ·  Self-loop anchor</a:t>
            </a:r>
            <a:endParaRPr lang="en-US" sz="750" dirty="0"/>
          </a:p>
        </p:txBody>
      </p:sp>
      <p:sp>
        <p:nvSpPr>
          <p:cNvPr id="23" name="Shape 19"/>
          <p:cNvSpPr/>
          <p:nvPr/>
        </p:nvSpPr>
        <p:spPr>
          <a:xfrm>
            <a:off x="4206240" y="3867912"/>
            <a:ext cx="4078224" cy="16459"/>
          </a:xfrm>
          <a:prstGeom prst="rect">
            <a:avLst/>
          </a:prstGeom>
          <a:solidFill>
            <a:srgbClr val="FF6B9D"/>
          </a:solidFill>
          <a:ln w="12700">
            <a:solidFill>
              <a:srgbClr val="FF6B9D"/>
            </a:solidFill>
            <a:prstDash val="solid"/>
          </a:ln>
        </p:spPr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33088" y="3904488"/>
            <a:ext cx="4206240" cy="2157984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4133088" y="6080760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i="1" dirty="0">
                <a:solidFill>
                  <a:srgbClr val="888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Magenta  ·  Upper optic lobe  ·  Long projection toward central brain visible</a:t>
            </a:r>
            <a:endParaRPr lang="en-US" sz="650" dirty="0"/>
          </a:p>
        </p:txBody>
      </p:sp>
      <p:sp>
        <p:nvSpPr>
          <p:cNvPr id="26" name="Shape 21"/>
          <p:cNvSpPr/>
          <p:nvPr/>
        </p:nvSpPr>
        <p:spPr>
          <a:xfrm>
            <a:off x="8503920" y="777240"/>
            <a:ext cx="3547872" cy="1005840"/>
          </a:xfrm>
          <a:prstGeom prst="roundRect">
            <a:avLst>
              <a:gd name="adj" fmla="val 9091"/>
            </a:avLst>
          </a:prstGeom>
          <a:solidFill>
            <a:srgbClr val="0F0F2A"/>
          </a:solidFill>
          <a:ln w="12700">
            <a:solidFill>
              <a:srgbClr val="1A2A3A"/>
            </a:solidFill>
            <a:prstDash val="solid"/>
          </a:ln>
          <a:effectLst>
            <a:outerShdw blurRad="152400" dist="50800" dir="2700000" algn="bl" rotWithShape="0">
              <a:srgbClr val="000000">
                <a:alpha val="45000"/>
              </a:srgbClr>
            </a:outerShdw>
          </a:effectLst>
        </p:spPr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40496" y="813816"/>
            <a:ext cx="3474720" cy="932688"/>
          </a:xfrm>
          <a:prstGeom prst="rect">
            <a:avLst/>
          </a:prstGeom>
        </p:spPr>
      </p:pic>
      <p:sp>
        <p:nvSpPr>
          <p:cNvPr id="28" name="Shape 22"/>
          <p:cNvSpPr/>
          <p:nvPr/>
        </p:nvSpPr>
        <p:spPr>
          <a:xfrm>
            <a:off x="8503920" y="1856232"/>
            <a:ext cx="3547872" cy="1481328"/>
          </a:xfrm>
          <a:prstGeom prst="roundRect">
            <a:avLst>
              <a:gd name="adj" fmla="val 6173"/>
            </a:avLst>
          </a:prstGeom>
          <a:solidFill>
            <a:srgbClr val="0F0F2A"/>
          </a:solidFill>
          <a:ln w="12700">
            <a:solidFill>
              <a:srgbClr val="1A2A3A"/>
            </a:solidFill>
            <a:prstDash val="solid"/>
          </a:ln>
          <a:effectLst>
            <a:outerShdw blurRad="152400" dist="50800" dir="27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9" name="Text 23"/>
          <p:cNvSpPr/>
          <p:nvPr/>
        </p:nvSpPr>
        <p:spPr>
          <a:xfrm>
            <a:off x="8613648" y="1911096"/>
            <a:ext cx="3328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b="1" kern="0" spc="200" dirty="0">
                <a:solidFill>
                  <a:srgbClr val="F5C8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CIRCUIT ROLES</a:t>
            </a:r>
            <a:endParaRPr lang="en-US" sz="750" dirty="0"/>
          </a:p>
        </p:txBody>
      </p:sp>
      <p:sp>
        <p:nvSpPr>
          <p:cNvPr id="30" name="Shape 24"/>
          <p:cNvSpPr/>
          <p:nvPr/>
        </p:nvSpPr>
        <p:spPr>
          <a:xfrm>
            <a:off x="8613648" y="2130552"/>
            <a:ext cx="3328416" cy="16459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31" name="Shape 25"/>
          <p:cNvSpPr/>
          <p:nvPr/>
        </p:nvSpPr>
        <p:spPr>
          <a:xfrm>
            <a:off x="8613648" y="2185416"/>
            <a:ext cx="182880" cy="182880"/>
          </a:xfrm>
          <a:prstGeom prst="ellipse">
            <a:avLst/>
          </a:prstGeom>
          <a:solidFill>
            <a:srgbClr val="FF6B9D"/>
          </a:solidFill>
          <a:ln w="12700">
            <a:solidFill>
              <a:srgbClr val="FF6B9D"/>
            </a:solidFill>
            <a:prstDash val="solid"/>
          </a:ln>
        </p:spPr>
      </p:sp>
      <p:sp>
        <p:nvSpPr>
          <p:cNvPr id="32" name="Text 26"/>
          <p:cNvSpPr/>
          <p:nvPr/>
        </p:nvSpPr>
        <p:spPr>
          <a:xfrm>
            <a:off x="8833104" y="2167128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Hub / Self-loop</a:t>
            </a:r>
            <a:endParaRPr lang="en-US" sz="800" dirty="0"/>
          </a:p>
        </p:txBody>
      </p:sp>
      <p:sp>
        <p:nvSpPr>
          <p:cNvPr id="33" name="Text 27"/>
          <p:cNvSpPr/>
          <p:nvPr/>
        </p:nvSpPr>
        <p:spPr>
          <a:xfrm>
            <a:off x="10296144" y="2167128"/>
            <a:ext cx="347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6B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×1</a:t>
            </a:r>
            <a:endParaRPr lang="en-US" sz="800" dirty="0"/>
          </a:p>
        </p:txBody>
      </p:sp>
      <p:sp>
        <p:nvSpPr>
          <p:cNvPr id="34" name="Text 28"/>
          <p:cNvSpPr/>
          <p:nvPr/>
        </p:nvSpPr>
        <p:spPr>
          <a:xfrm>
            <a:off x="10643616" y="2167128"/>
            <a:ext cx="13350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888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in=1, out=5 + loop</a:t>
            </a:r>
            <a:endParaRPr lang="en-US" sz="700" dirty="0"/>
          </a:p>
        </p:txBody>
      </p:sp>
      <p:sp>
        <p:nvSpPr>
          <p:cNvPr id="35" name="Shape 29"/>
          <p:cNvSpPr/>
          <p:nvPr/>
        </p:nvSpPr>
        <p:spPr>
          <a:xfrm>
            <a:off x="8613648" y="2404872"/>
            <a:ext cx="182880" cy="182880"/>
          </a:xfrm>
          <a:prstGeom prst="ellipse">
            <a:avLst/>
          </a:prstGeom>
          <a:solidFill>
            <a:srgbClr val="00C4BC"/>
          </a:solidFill>
          <a:ln w="12700">
            <a:solidFill>
              <a:srgbClr val="00C4BC"/>
            </a:solidFill>
            <a:prstDash val="solid"/>
          </a:ln>
        </p:spPr>
      </p:sp>
      <p:sp>
        <p:nvSpPr>
          <p:cNvPr id="36" name="Text 30"/>
          <p:cNvSpPr/>
          <p:nvPr/>
        </p:nvSpPr>
        <p:spPr>
          <a:xfrm>
            <a:off x="8833104" y="2386584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Reciprocal Relay</a:t>
            </a:r>
            <a:endParaRPr lang="en-US" sz="800" dirty="0"/>
          </a:p>
        </p:txBody>
      </p:sp>
      <p:sp>
        <p:nvSpPr>
          <p:cNvPr id="37" name="Text 31"/>
          <p:cNvSpPr/>
          <p:nvPr/>
        </p:nvSpPr>
        <p:spPr>
          <a:xfrm>
            <a:off x="10296144" y="2386584"/>
            <a:ext cx="347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0C4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800" dirty="0"/>
          </a:p>
        </p:txBody>
      </p:sp>
      <p:sp>
        <p:nvSpPr>
          <p:cNvPr id="38" name="Text 32"/>
          <p:cNvSpPr/>
          <p:nvPr/>
        </p:nvSpPr>
        <p:spPr>
          <a:xfrm>
            <a:off x="10643616" y="2386584"/>
            <a:ext cx="13350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888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in=1, out=5</a:t>
            </a:r>
            <a:endParaRPr lang="en-US" sz="700" dirty="0"/>
          </a:p>
        </p:txBody>
      </p:sp>
      <p:sp>
        <p:nvSpPr>
          <p:cNvPr id="39" name="Shape 33"/>
          <p:cNvSpPr/>
          <p:nvPr/>
        </p:nvSpPr>
        <p:spPr>
          <a:xfrm>
            <a:off x="8613648" y="2624328"/>
            <a:ext cx="182880" cy="182880"/>
          </a:xfrm>
          <a:prstGeom prst="ellipse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40" name="Text 34"/>
          <p:cNvSpPr/>
          <p:nvPr/>
        </p:nvSpPr>
        <p:spPr>
          <a:xfrm>
            <a:off x="8833104" y="2606040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Relay</a:t>
            </a:r>
            <a:endParaRPr lang="en-US" sz="800" dirty="0"/>
          </a:p>
        </p:txBody>
      </p:sp>
      <p:sp>
        <p:nvSpPr>
          <p:cNvPr id="41" name="Text 35"/>
          <p:cNvSpPr/>
          <p:nvPr/>
        </p:nvSpPr>
        <p:spPr>
          <a:xfrm>
            <a:off x="10296144" y="2606040"/>
            <a:ext cx="347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8C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×3</a:t>
            </a:r>
            <a:endParaRPr lang="en-US" sz="800" dirty="0"/>
          </a:p>
        </p:txBody>
      </p:sp>
      <p:sp>
        <p:nvSpPr>
          <p:cNvPr id="42" name="Text 36"/>
          <p:cNvSpPr/>
          <p:nvPr/>
        </p:nvSpPr>
        <p:spPr>
          <a:xfrm>
            <a:off x="10643616" y="2606040"/>
            <a:ext cx="13350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888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in=1–2, out=1–3</a:t>
            </a:r>
            <a:endParaRPr lang="en-US" sz="700" dirty="0"/>
          </a:p>
        </p:txBody>
      </p:sp>
      <p:sp>
        <p:nvSpPr>
          <p:cNvPr id="43" name="Shape 37"/>
          <p:cNvSpPr/>
          <p:nvPr/>
        </p:nvSpPr>
        <p:spPr>
          <a:xfrm>
            <a:off x="8613648" y="2843784"/>
            <a:ext cx="182880" cy="182880"/>
          </a:xfrm>
          <a:prstGeom prst="ellipse">
            <a:avLst/>
          </a:prstGeom>
          <a:solidFill>
            <a:srgbClr val="4CFF91"/>
          </a:solidFill>
          <a:ln w="12700">
            <a:solidFill>
              <a:srgbClr val="4CFF91"/>
            </a:solidFill>
            <a:prstDash val="solid"/>
          </a:ln>
        </p:spPr>
      </p:sp>
      <p:sp>
        <p:nvSpPr>
          <p:cNvPr id="44" name="Text 38"/>
          <p:cNvSpPr/>
          <p:nvPr/>
        </p:nvSpPr>
        <p:spPr>
          <a:xfrm>
            <a:off x="8833104" y="2825496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</a:t>
            </a:r>
            <a:endParaRPr lang="en-US" sz="800" dirty="0"/>
          </a:p>
        </p:txBody>
      </p:sp>
      <p:sp>
        <p:nvSpPr>
          <p:cNvPr id="45" name="Text 39"/>
          <p:cNvSpPr/>
          <p:nvPr/>
        </p:nvSpPr>
        <p:spPr>
          <a:xfrm>
            <a:off x="10296144" y="2825496"/>
            <a:ext cx="347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CFF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800" dirty="0"/>
          </a:p>
        </p:txBody>
      </p:sp>
      <p:sp>
        <p:nvSpPr>
          <p:cNvPr id="46" name="Text 40"/>
          <p:cNvSpPr/>
          <p:nvPr/>
        </p:nvSpPr>
        <p:spPr>
          <a:xfrm>
            <a:off x="10643616" y="2825496"/>
            <a:ext cx="13350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888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in=0, out=1–2</a:t>
            </a:r>
            <a:endParaRPr lang="en-US" sz="700" dirty="0"/>
          </a:p>
        </p:txBody>
      </p:sp>
      <p:sp>
        <p:nvSpPr>
          <p:cNvPr id="47" name="Shape 41"/>
          <p:cNvSpPr/>
          <p:nvPr/>
        </p:nvSpPr>
        <p:spPr>
          <a:xfrm>
            <a:off x="8613648" y="3063240"/>
            <a:ext cx="182880" cy="182880"/>
          </a:xfrm>
          <a:prstGeom prst="ellipse">
            <a:avLst/>
          </a:prstGeom>
          <a:solidFill>
            <a:srgbClr val="9B59FF"/>
          </a:solidFill>
          <a:ln w="12700">
            <a:solidFill>
              <a:srgbClr val="9B59FF"/>
            </a:solidFill>
            <a:prstDash val="solid"/>
          </a:ln>
        </p:spPr>
      </p:sp>
      <p:sp>
        <p:nvSpPr>
          <p:cNvPr id="48" name="Text 42"/>
          <p:cNvSpPr/>
          <p:nvPr/>
        </p:nvSpPr>
        <p:spPr>
          <a:xfrm>
            <a:off x="8833104" y="3044952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Sink</a:t>
            </a:r>
            <a:endParaRPr lang="en-US" sz="800" dirty="0"/>
          </a:p>
        </p:txBody>
      </p:sp>
      <p:sp>
        <p:nvSpPr>
          <p:cNvPr id="49" name="Text 43"/>
          <p:cNvSpPr/>
          <p:nvPr/>
        </p:nvSpPr>
        <p:spPr>
          <a:xfrm>
            <a:off x="10296144" y="3044952"/>
            <a:ext cx="347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B5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×10</a:t>
            </a:r>
            <a:endParaRPr lang="en-US" sz="800" dirty="0"/>
          </a:p>
        </p:txBody>
      </p:sp>
      <p:sp>
        <p:nvSpPr>
          <p:cNvPr id="50" name="Text 44"/>
          <p:cNvSpPr/>
          <p:nvPr/>
        </p:nvSpPr>
        <p:spPr>
          <a:xfrm>
            <a:off x="10643616" y="3044952"/>
            <a:ext cx="13350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888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in=1–2, out=0</a:t>
            </a:r>
            <a:endParaRPr lang="en-US" sz="700" dirty="0"/>
          </a:p>
        </p:txBody>
      </p:sp>
      <p:sp>
        <p:nvSpPr>
          <p:cNvPr id="51" name="Shape 45"/>
          <p:cNvSpPr/>
          <p:nvPr/>
        </p:nvSpPr>
        <p:spPr>
          <a:xfrm>
            <a:off x="8503920" y="3410712"/>
            <a:ext cx="3547872" cy="1664208"/>
          </a:xfrm>
          <a:prstGeom prst="roundRect">
            <a:avLst>
              <a:gd name="adj" fmla="val 5495"/>
            </a:avLst>
          </a:prstGeom>
          <a:solidFill>
            <a:srgbClr val="0F0F2A"/>
          </a:solidFill>
          <a:ln w="12700">
            <a:solidFill>
              <a:srgbClr val="1A2A3A"/>
            </a:solidFill>
            <a:prstDash val="solid"/>
          </a:ln>
          <a:effectLst>
            <a:outerShdw blurRad="152400" dist="50800" dir="2700000" algn="bl" rotWithShape="0">
              <a:srgbClr val="000000">
                <a:alpha val="45000"/>
              </a:srgbClr>
            </a:outerShdw>
          </a:effectLst>
        </p:spPr>
      </p:sp>
      <p:sp>
        <p:nvSpPr>
          <p:cNvPr id="52" name="Text 46"/>
          <p:cNvSpPr/>
          <p:nvPr/>
        </p:nvSpPr>
        <p:spPr>
          <a:xfrm>
            <a:off x="8613648" y="3465576"/>
            <a:ext cx="3328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b="1" kern="0" spc="200" dirty="0">
                <a:solidFill>
                  <a:srgbClr val="FF6B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OBSERVATIONS</a:t>
            </a:r>
            <a:endParaRPr lang="en-US" sz="750" dirty="0"/>
          </a:p>
        </p:txBody>
      </p:sp>
      <p:sp>
        <p:nvSpPr>
          <p:cNvPr id="53" name="Shape 47"/>
          <p:cNvSpPr/>
          <p:nvPr/>
        </p:nvSpPr>
        <p:spPr>
          <a:xfrm>
            <a:off x="8613648" y="3685032"/>
            <a:ext cx="3328416" cy="16459"/>
          </a:xfrm>
          <a:prstGeom prst="rect">
            <a:avLst/>
          </a:prstGeom>
          <a:solidFill>
            <a:srgbClr val="FF6B9D"/>
          </a:solidFill>
          <a:ln w="12700">
            <a:solidFill>
              <a:srgbClr val="FF6B9D"/>
            </a:solidFill>
            <a:prstDash val="solid"/>
          </a:ln>
        </p:spPr>
      </p:sp>
      <p:sp>
        <p:nvSpPr>
          <p:cNvPr id="54" name="Shape 48"/>
          <p:cNvSpPr/>
          <p:nvPr/>
        </p:nvSpPr>
        <p:spPr>
          <a:xfrm>
            <a:off x="8613648" y="3739896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00C4BC"/>
          </a:solidFill>
          <a:ln w="12700">
            <a:solidFill>
              <a:srgbClr val="00C4BC"/>
            </a:solidFill>
            <a:prstDash val="solid"/>
          </a:ln>
        </p:spPr>
      </p:sp>
      <p:sp>
        <p:nvSpPr>
          <p:cNvPr id="55" name="Text 49"/>
          <p:cNvSpPr/>
          <p:nvPr/>
        </p:nvSpPr>
        <p:spPr>
          <a:xfrm>
            <a:off x="8613648" y="373989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↺</a:t>
            </a:r>
            <a:endParaRPr lang="en-US" sz="1000" dirty="0"/>
          </a:p>
        </p:txBody>
      </p:sp>
      <p:sp>
        <p:nvSpPr>
          <p:cNvPr id="56" name="Text 50"/>
          <p:cNvSpPr/>
          <p:nvPr/>
        </p:nvSpPr>
        <p:spPr>
          <a:xfrm>
            <a:off x="8906256" y="3721608"/>
            <a:ext cx="30723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Self-loop hub sustains signal without re-excitation</a:t>
            </a:r>
            <a:endParaRPr lang="en-US" sz="800" dirty="0"/>
          </a:p>
        </p:txBody>
      </p:sp>
      <p:sp>
        <p:nvSpPr>
          <p:cNvPr id="57" name="Shape 51"/>
          <p:cNvSpPr/>
          <p:nvPr/>
        </p:nvSpPr>
        <p:spPr>
          <a:xfrm>
            <a:off x="8613648" y="4069080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58" name="Text 52"/>
          <p:cNvSpPr/>
          <p:nvPr/>
        </p:nvSpPr>
        <p:spPr>
          <a:xfrm>
            <a:off x="8613648" y="40690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⇌</a:t>
            </a:r>
            <a:endParaRPr lang="en-US" sz="1000" dirty="0"/>
          </a:p>
        </p:txBody>
      </p:sp>
      <p:sp>
        <p:nvSpPr>
          <p:cNvPr id="59" name="Text 53"/>
          <p:cNvSpPr/>
          <p:nvPr/>
        </p:nvSpPr>
        <p:spPr>
          <a:xfrm>
            <a:off x="8906256" y="4050792"/>
            <a:ext cx="30723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Reciprocal relays amplify via mutual excitation</a:t>
            </a:r>
            <a:endParaRPr lang="en-US" sz="800" dirty="0"/>
          </a:p>
        </p:txBody>
      </p:sp>
      <p:sp>
        <p:nvSpPr>
          <p:cNvPr id="60" name="Shape 54"/>
          <p:cNvSpPr/>
          <p:nvPr/>
        </p:nvSpPr>
        <p:spPr>
          <a:xfrm>
            <a:off x="8613648" y="4398264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9B59FF"/>
          </a:solidFill>
          <a:ln w="12700">
            <a:solidFill>
              <a:srgbClr val="9B59FF"/>
            </a:solidFill>
            <a:prstDash val="solid"/>
          </a:ln>
        </p:spPr>
      </p:sp>
      <p:sp>
        <p:nvSpPr>
          <p:cNvPr id="61" name="Text 55"/>
          <p:cNvSpPr/>
          <p:nvPr/>
        </p:nvSpPr>
        <p:spPr>
          <a:xfrm>
            <a:off x="8613648" y="439826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♂</a:t>
            </a:r>
            <a:endParaRPr lang="en-US" sz="1000" dirty="0"/>
          </a:p>
        </p:txBody>
      </p:sp>
      <p:sp>
        <p:nvSpPr>
          <p:cNvPr id="62" name="Text 56"/>
          <p:cNvSpPr/>
          <p:nvPr/>
        </p:nvSpPr>
        <p:spPr>
          <a:xfrm>
            <a:off x="8906256" y="4379976"/>
            <a:ext cx="30723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Absent from female datasets — sex-specific wiring</a:t>
            </a:r>
            <a:endParaRPr lang="en-US" sz="800" dirty="0"/>
          </a:p>
        </p:txBody>
      </p:sp>
      <p:sp>
        <p:nvSpPr>
          <p:cNvPr id="63" name="Shape 57"/>
          <p:cNvSpPr/>
          <p:nvPr/>
        </p:nvSpPr>
        <p:spPr>
          <a:xfrm>
            <a:off x="8613648" y="4727448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64" name="Text 58"/>
          <p:cNvSpPr/>
          <p:nvPr/>
        </p:nvSpPr>
        <p:spPr>
          <a:xfrm>
            <a:off x="8613648" y="472744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1000" dirty="0"/>
          </a:p>
        </p:txBody>
      </p:sp>
      <p:sp>
        <p:nvSpPr>
          <p:cNvPr id="65" name="Text 59"/>
          <p:cNvSpPr/>
          <p:nvPr/>
        </p:nvSpPr>
        <p:spPr>
          <a:xfrm>
            <a:off x="8906256" y="4709160"/>
            <a:ext cx="30723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18 neurons unclassified — novel circuit territory</a:t>
            </a:r>
            <a:endParaRPr lang="en-US" sz="800" dirty="0"/>
          </a:p>
        </p:txBody>
      </p:sp>
      <p:sp>
        <p:nvSpPr>
          <p:cNvPr id="66" name="Shape 60"/>
          <p:cNvSpPr/>
          <p:nvPr/>
        </p:nvSpPr>
        <p:spPr>
          <a:xfrm>
            <a:off x="8503920" y="5148072"/>
            <a:ext cx="3547872" cy="1005840"/>
          </a:xfrm>
          <a:prstGeom prst="roundRect">
            <a:avLst>
              <a:gd name="adj" fmla="val 7273"/>
            </a:avLst>
          </a:prstGeom>
          <a:solidFill>
            <a:srgbClr val="0A1A0A"/>
          </a:solidFill>
          <a:ln w="12700">
            <a:solidFill>
              <a:srgbClr val="4CFF91"/>
            </a:solidFill>
            <a:prstDash val="solid"/>
          </a:ln>
        </p:spPr>
      </p:sp>
      <p:sp>
        <p:nvSpPr>
          <p:cNvPr id="67" name="Text 61"/>
          <p:cNvSpPr/>
          <p:nvPr/>
        </p:nvSpPr>
        <p:spPr>
          <a:xfrm>
            <a:off x="8613648" y="5202936"/>
            <a:ext cx="3328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b="1" kern="0" spc="200" dirty="0">
                <a:solidFill>
                  <a:srgbClr val="4CFF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HYPOTHESIS</a:t>
            </a:r>
            <a:endParaRPr lang="en-US" sz="750" dirty="0"/>
          </a:p>
        </p:txBody>
      </p:sp>
      <p:sp>
        <p:nvSpPr>
          <p:cNvPr id="68" name="Shape 62"/>
          <p:cNvSpPr/>
          <p:nvPr/>
        </p:nvSpPr>
        <p:spPr>
          <a:xfrm>
            <a:off x="8613648" y="5422392"/>
            <a:ext cx="3328416" cy="16459"/>
          </a:xfrm>
          <a:prstGeom prst="rect">
            <a:avLst/>
          </a:prstGeom>
          <a:solidFill>
            <a:srgbClr val="4CFF91"/>
          </a:solidFill>
          <a:ln w="12700">
            <a:solidFill>
              <a:srgbClr val="4CFF91"/>
            </a:solidFill>
            <a:prstDash val="solid"/>
          </a:ln>
        </p:spPr>
      </p:sp>
      <p:sp>
        <p:nvSpPr>
          <p:cNvPr id="69" name="Text 63"/>
          <p:cNvSpPr/>
          <p:nvPr/>
        </p:nvSpPr>
        <p:spPr>
          <a:xfrm>
            <a:off x="8613648" y="5458968"/>
            <a:ext cx="33284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800" dirty="0">
                <a:solidFill>
                  <a:srgbClr val="CCFF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Structural backbone of male </a:t>
            </a:r>
            <a:r>
              <a:rPr lang="en-US" sz="800" dirty="0" err="1">
                <a:solidFill>
                  <a:srgbClr val="CCFF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visuomotor</a:t>
            </a:r>
            <a:r>
              <a:rPr lang="en-US" sz="800">
                <a:solidFill>
                  <a:srgbClr val="CCFF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800" smtClean="0">
                <a:solidFill>
                  <a:srgbClr val="CCFF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integration; </a:t>
            </a:r>
            <a:r>
              <a:rPr lang="en-US" sz="800" dirty="0">
                <a:solidFill>
                  <a:srgbClr val="CCFF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coordinates optic lobe output with nerve cord locomotor circuits during visual pursuit.</a:t>
            </a:r>
            <a:endParaRPr lang="en-US" sz="800" dirty="0"/>
          </a:p>
          <a:p>
            <a:pPr marL="0" indent="0" algn="l">
              <a:lnSpc>
                <a:spcPct val="122000"/>
              </a:lnSpc>
              <a:buNone/>
            </a:pPr>
            <a:r>
              <a:rPr lang="en-US" sz="800" dirty="0">
                <a:solidFill>
                  <a:srgbClr val="CCFF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Test: optogenetic silencing (GtACR1) during courtship chase.</a:t>
            </a:r>
            <a:endParaRPr lang="en-US" sz="800" dirty="0"/>
          </a:p>
        </p:txBody>
      </p:sp>
      <p:sp>
        <p:nvSpPr>
          <p:cNvPr id="70" name="Shape 6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71" name="Text 65"/>
          <p:cNvSpPr/>
          <p:nvPr/>
        </p:nvSpPr>
        <p:spPr>
          <a:xfrm>
            <a:off x="201168" y="6601968"/>
            <a:ext cx="10058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50" i="1" dirty="0">
                <a:solidFill>
                  <a:srgbClr val="888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[1] Dorkenwald et al. (2023) Nat. Methods 19:119  ·  [2] Schlegel et al. (2023) Nature 634:139  ·  [3] Namiki et al. (2018) eLife 7:e34272  ·  [4] Sapkal et al. (2023) bioRxiv  ·  [5] Masland (2012) Neuron 76:266  ·  [6] Gruntman &amp; Turner (2013) Nat. Neurosci. 16:1821</a:t>
            </a:r>
            <a:endParaRPr lang="en-US" sz="650" dirty="0"/>
          </a:p>
        </p:txBody>
      </p:sp>
      <p:sp>
        <p:nvSpPr>
          <p:cNvPr id="72" name="Text 66"/>
          <p:cNvSpPr/>
          <p:nvPr/>
        </p:nvSpPr>
        <p:spPr>
          <a:xfrm>
            <a:off x="10241280" y="6601968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00C4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codex.flywire.ai  ·  KNUST, Ghana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266</Words>
  <Application>Microsoft Office PowerPoint</Application>
  <PresentationFormat>Widescreen</PresentationFormat>
  <Paragraphs>41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Cambria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PC</cp:lastModifiedBy>
  <cp:revision>2</cp:revision>
  <dcterms:created xsi:type="dcterms:W3CDTF">2026-06-13T02:23:06Z</dcterms:created>
  <dcterms:modified xsi:type="dcterms:W3CDTF">2026-06-13T02:35:16Z</dcterms:modified>
</cp:coreProperties>
</file>